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ellipse">
            <a:avLst/>
          </a:prstGeom>
          <a:solidFill>
            <a:srgbClr val="3B82F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274320"/>
            <a:ext cx="914400" cy="914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771900"/>
            <a:ext cx="1371600" cy="1371600"/>
          </a:xfrm>
          <a:prstGeom prst="ellipse">
            <a:avLst/>
          </a:prstGeom>
          <a:solidFill>
            <a:srgbClr val="818CF8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spc="250" kern="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RenRND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spc="2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Agentic AI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 Cerdas - Pipeline Otomatis - Dashboard Real-Time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- September 2026</a:t>
            </a:r>
            <a:endParaRPr lang="en-US" sz="1200" dirty="0"/>
          </a:p>
        </p:txBody>
      </p:sp>
      <p:sp>
        <p:nvSpPr>
          <p:cNvPr id="10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Contains AI-generated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Daftar Isi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Presentasi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643738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44168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307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&amp; Tantangan Sales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5636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proses sales saat ini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643738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44168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1307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Arsitektur Sistem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5636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 agentic AI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87906"/>
            <a:ext cx="4023360" cy="643738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097634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09763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06105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Preview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31709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aplikasi jika jadi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987906"/>
            <a:ext cx="4023360" cy="643738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097634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09763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206105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 Agents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231709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Opportunity, Pipeline, Insight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741371"/>
            <a:ext cx="4023360" cy="643738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2851099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285109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2814523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070555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BytePlus, Skylark, Tableau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741371"/>
            <a:ext cx="4023360" cy="643738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2851099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85109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2814523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Kompetitif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3070555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sistem ini unggul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494837"/>
            <a:ext cx="4023360" cy="643738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4360" y="3604565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60456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1560" y="3567989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Kerumitan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51560" y="3824021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kompleksitas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494837"/>
            <a:ext cx="4023360" cy="643738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3604565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360456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3567989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Deployment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57800" y="3824021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arsitektur deploy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248302"/>
            <a:ext cx="4023360" cy="643738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4360" y="435803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435803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51560" y="432145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Timeline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51560" y="457748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pengembangan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4248302"/>
            <a:ext cx="4023360" cy="643738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00600" y="435803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2" name="Text 50"/>
          <p:cNvSpPr/>
          <p:nvPr/>
        </p:nvSpPr>
        <p:spPr>
          <a:xfrm>
            <a:off x="4800600" y="435803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57800" y="432145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&amp; Next Steps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257800" y="457748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selanjutnya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595360" y="47777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Masalah &amp; Tantangan Sales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proses sales saat ini yang perlu diatasi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212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Manual &amp; Lambat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16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 membutuhkan waktu berjam-jam untuk qualify leads. Banyak peluang terlewat karena response time lambat.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1360" y="132588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325880"/>
            <a:ext cx="2621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489960" y="1508760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Tidak Transparan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89960" y="1828800"/>
            <a:ext cx="216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melihat status real-time setiap opportunity. Forecasting dilakukan berdasarkan intuisi, bukan data.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65520" y="132588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65520" y="1325880"/>
            <a:ext cx="2621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294120" y="1508760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Prioritas Cerdas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94120" y="1828800"/>
            <a:ext cx="216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sistem yang menentukan opportunity mana yang harus dikejar lebih dahulu berdasarkan probabilitas menang.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54680"/>
            <a:ext cx="26212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337560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Tersebar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657600"/>
            <a:ext cx="216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tersebar di email, WhatsApp, dan spreadsheet. Tidak ada single source of truth untuk decision making.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61360" y="315468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1360" y="3154680"/>
            <a:ext cx="2621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489960" y="3337560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Terlupakan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89960" y="3657600"/>
            <a:ext cx="216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opportunity gagal karena tidak ada follow-up tepat waktu. Tidak ada sistem reminder otomatis.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65520" y="315468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65520" y="3154680"/>
            <a:ext cx="26212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294120" y="3337560"/>
            <a:ext cx="216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Manual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94120" y="3657600"/>
            <a:ext cx="216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dibuat manual setiap minggu. Tidak ada dashboard real-time untuk melihat progress bisnis.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95360" y="47777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Solusi: Arsitektur Sistem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 RenRND Sales Agentic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00200" y="1143000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83080" y="1234440"/>
            <a:ext cx="274320" cy="274320"/>
          </a:xfrm>
          <a:prstGeom prst="ellipse">
            <a:avLst/>
          </a:prstGeom>
          <a:solidFill>
            <a:srgbClr val="0A0E27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7830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48840" y="1143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(Next.js + Tableau Dashboard)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60020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600200" y="1828800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83080" y="1920240"/>
            <a:ext cx="274320" cy="274320"/>
          </a:xfrm>
          <a:prstGeom prst="ellipse">
            <a:avLst/>
          </a:prstGeom>
          <a:solidFill>
            <a:srgbClr val="0A0E27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4884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(Opportunity - Pipeline - Insight)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28600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600200" y="2514600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783080" y="2606040"/>
            <a:ext cx="274320" cy="274320"/>
          </a:xfrm>
          <a:prstGeom prst="ellipse">
            <a:avLst/>
          </a:prstGeom>
          <a:solidFill>
            <a:srgbClr val="0A0E27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7830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48840" y="2514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(FastAPI + LangGraph + Celery)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97180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600200" y="3200400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783080" y="3291840"/>
            <a:ext cx="274320" cy="274320"/>
          </a:xfrm>
          <a:prstGeom prst="ellipse">
            <a:avLst/>
          </a:prstGeom>
          <a:solidFill>
            <a:srgbClr val="0A0E27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78308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48840" y="3200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(PostgreSQL + pgvector + Redis)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65760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00200" y="3886200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783080" y="3977640"/>
            <a:ext cx="274320" cy="274320"/>
          </a:xfrm>
          <a:prstGeom prst="ellipse">
            <a:avLst/>
          </a:prstGeom>
          <a:solidFill>
            <a:srgbClr val="0A0E27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78308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148840" y="3886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 (BytePlus ModelArk - Skylark)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2880" y="1645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2331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95360" y="47777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Preview: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aplikasi jika berhasil dibuat</a:t>
            </a:r>
            <a:endParaRPr lang="en-US" sz="1400" dirty="0"/>
          </a:p>
        </p:txBody>
      </p:sp>
      <p:pic>
        <p:nvPicPr>
          <p:cNvPr id="5" name="Image 0" descr="images/dashboard_fun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4114800" cy="2313432"/>
          </a:xfrm>
          <a:prstGeom prst="rect">
            <a:avLst/>
          </a:prstGeom>
        </p:spPr>
      </p:pic>
      <p:pic>
        <p:nvPicPr>
          <p:cNvPr id="6" name="Image 1" descr="images/dashboard_foreca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188720"/>
            <a:ext cx="4114800" cy="2313432"/>
          </a:xfrm>
          <a:prstGeom prst="rect">
            <a:avLst/>
          </a:prstGeom>
        </p:spPr>
      </p:pic>
      <p:pic>
        <p:nvPicPr>
          <p:cNvPr id="7" name="Image 2" descr="images/dashboard_agent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514600" y="3566160"/>
            <a:ext cx="4114800" cy="1325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960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Funnel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663440" y="960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2514600" y="338328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Activity Monitor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8595360" y="47777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AI 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AI yang bekerja 24/7 untuk sales Anda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590800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213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Agent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Detection &amp; Scoring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21336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peluang dari email &amp; chat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Skoring BANT otomatis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opportunity di CRM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data kontak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840480"/>
            <a:ext cx="213360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84048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leads/hari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76600" y="132588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6600" y="1325880"/>
            <a:ext cx="25908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505200" y="1417320"/>
            <a:ext cx="213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05200" y="173736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Management &amp; Win Probability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05200" y="2286000"/>
            <a:ext cx="21336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transisi stage otomatis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probabilitas menang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action recommendation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flagging &amp; alert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05200" y="3840480"/>
            <a:ext cx="213360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3505200" y="384048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38+ evaluasi/hari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6000" y="1325880"/>
            <a:ext cx="2590800" cy="3474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96000" y="1325880"/>
            <a:ext cx="2590800" cy="777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1" name="Text 19"/>
          <p:cNvSpPr/>
          <p:nvPr/>
        </p:nvSpPr>
        <p:spPr>
          <a:xfrm>
            <a:off x="6324600" y="1417320"/>
            <a:ext cx="213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Agent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24600" y="173736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&amp; Anomaly Detection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24600" y="2286000"/>
            <a:ext cx="21336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forecasting mingguan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&amp; trend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briefing natural language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strategi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24600" y="3840480"/>
            <a:ext cx="213360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6324600" y="384048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 insight/hari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95360" y="47777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BytePlus + Skylark + Tableau + Modern Backend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630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216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BytePlus ModelArk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75688"/>
            <a:ext cx="216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LLM OpenAI-compatible. skylark-pro untuk reasoning kompleks, skylark-lite untuk NER &amp; klasifikasi.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7772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432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skylark-pro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554480" y="2743200"/>
            <a:ext cx="7772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27432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skylark-lite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61360" y="132588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89960" y="14630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489960" y="1463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89960" y="1783080"/>
            <a:ext cx="216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Skylark Embedding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89960" y="2075688"/>
            <a:ext cx="216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embedding multimodal untuk RAG. 500K quota gratis. Text $0.125/M, image $0.325/M token.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89960" y="2743200"/>
            <a:ext cx="7772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3489960" y="27432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skylark-embed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65520" y="132588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94120" y="14630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294120" y="1463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94120" y="1783080"/>
            <a:ext cx="216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94120" y="2075688"/>
            <a:ext cx="216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API dengan auto-docs OpenAPI. Performa tinggi, type-safe dengan Pydantic v2.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94120" y="2743200"/>
            <a:ext cx="7772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6294120" y="27432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162800" y="2743200"/>
            <a:ext cx="7772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7162800" y="27432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15468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" y="32918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Framework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3611880"/>
            <a:ext cx="216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Celery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3904488"/>
            <a:ext cx="216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AI agents dengan state machine. Background tasks via Celery + Redis.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" y="4572000"/>
            <a:ext cx="7772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572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554480" y="4572000"/>
            <a:ext cx="7772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1554480" y="4572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61360" y="315468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489960" y="32918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348996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89960" y="3611880"/>
            <a:ext cx="216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489960" y="3904488"/>
            <a:ext cx="216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relasional dengan vector storage untuk semantic search. Redis untuk caching &amp; queue.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89960" y="4572000"/>
            <a:ext cx="7772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3489960" y="4572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358640" y="4572000"/>
            <a:ext cx="7772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4358640" y="4572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65520" y="3154680"/>
            <a:ext cx="26212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94120" y="32918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818CF8"/>
          </a:solidFill>
          <a:ln/>
        </p:spPr>
      </p:sp>
      <p:sp>
        <p:nvSpPr>
          <p:cNvPr id="50" name="Text 48"/>
          <p:cNvSpPr/>
          <p:nvPr/>
        </p:nvSpPr>
        <p:spPr>
          <a:xfrm>
            <a:off x="629412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BI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94120" y="3611880"/>
            <a:ext cx="216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Tableau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294120" y="3904488"/>
            <a:ext cx="216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interaktif dengan Tableau JavaScript API embedding. Real-time pipeline &amp; forecast visualization.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94120" y="4572000"/>
            <a:ext cx="7772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54" name="Text 52"/>
          <p:cNvSpPr/>
          <p:nvPr/>
        </p:nvSpPr>
        <p:spPr>
          <a:xfrm>
            <a:off x="6294120" y="4572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162800" y="4572000"/>
            <a:ext cx="7772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7162800" y="4572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595360" y="47777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Keunggulan Kompetitif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RenRND Sales Agentic AI unggul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00500" cy="10668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1066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3268980" y="146304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268980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faster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Otomatisasi End-to-End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34518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lead detection hingga forecasting, semua diotomatisasi oleh 3 AI agents yang bekerja 24/7 tanpa intervensi manual.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6300" y="1325880"/>
            <a:ext cx="4000500" cy="10668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6300" y="1325880"/>
            <a:ext cx="54864" cy="1066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0" y="146304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hemat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06340" y="146304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LLM Hemat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06340" y="1783080"/>
            <a:ext cx="34518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tiering: skylark-pro untuk reasoning kompleks, skylark-lite untuk task sederhana. Biaya hanya $0.10-$0.40 per juta token.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29840"/>
            <a:ext cx="4000500" cy="10668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29840"/>
            <a:ext cx="54864" cy="10668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Shape 17"/>
          <p:cNvSpPr/>
          <p:nvPr/>
        </p:nvSpPr>
        <p:spPr>
          <a:xfrm>
            <a:off x="3268980" y="266700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818CF8"/>
          </a:solidFill>
          <a:ln/>
        </p:spPr>
      </p:sp>
      <p:sp>
        <p:nvSpPr>
          <p:cNvPr id="20" name="Text 18"/>
          <p:cNvSpPr/>
          <p:nvPr/>
        </p:nvSpPr>
        <p:spPr>
          <a:xfrm>
            <a:off x="3268980" y="2667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266700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Real-Time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2987040"/>
            <a:ext cx="34518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Tableau memberikan visualisasi profesional: funnel, forecast, rep performance, pipeline health - semua real-time.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86300" y="2529840"/>
            <a:ext cx="4000500" cy="10668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6300" y="2529840"/>
            <a:ext cx="54864" cy="1066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0" y="266700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2667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06340" y="266700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Semantic Search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06340" y="2987040"/>
            <a:ext cx="34518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+ Skylark embedding memungkinkan pencarian semantik pada data historis. Setiap keputusan didukung data relevan.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33800"/>
            <a:ext cx="4000500" cy="10668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733800"/>
            <a:ext cx="54864" cy="1066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Shape 29"/>
          <p:cNvSpPr/>
          <p:nvPr/>
        </p:nvSpPr>
        <p:spPr>
          <a:xfrm>
            <a:off x="3268980" y="387096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3268980" y="3870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lock-in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387096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API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4191000"/>
            <a:ext cx="34518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BytePlus ModelArk menggunakan API yang kompatibel dengan OpenAI SDK. Migrasi mudah, dokumentasi lengkap, ekosistem matang.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86300" y="3733800"/>
            <a:ext cx="4000500" cy="10668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86300" y="3733800"/>
            <a:ext cx="54864" cy="1066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Shape 35"/>
          <p:cNvSpPr/>
          <p:nvPr/>
        </p:nvSpPr>
        <p:spPr>
          <a:xfrm>
            <a:off x="7498080" y="387096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0" y="3870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06340" y="387096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Containerized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06340" y="4191000"/>
            <a:ext cx="34518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untuk dev, Kubernetes untuk production. Horizontal scaling via Celery workers. Mudah deploy di cloud manapun.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95360" y="47777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Tingkat Kerumitan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kompleksitas pengembangan per komponen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18872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Tingkat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&amp; Schema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hari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standard + pgvector extension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Backend (CRUD)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hari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boilerplate, auto-docs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BytePlus LLM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hari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OpenAI-compatible, tinggal set API 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Agents (LangGraph)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hari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machine, prompt engineering, 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hari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 API embedding + materialized views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(Next.js)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hari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UI + Tableau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&amp; DevOps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hari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Compose, straightforward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minggu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 2-3 developer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Overall: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Kompleksitas Menengah -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Bagian tersulit adalah AI Agents (prompt engineering + state machine), sisanya relatif straightforward dengan stack modern.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777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 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Docker-based deployment yang scalable dan cloud-ready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81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Mobile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1581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/ Traefik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581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BytePlus ModelArk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Container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4963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91840" y="21488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Container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4963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Gunicorn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21488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Container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4963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Beat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136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PostgreSQL+pgvector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410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80560" y="306324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14B8A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17720" y="3136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Container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3410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Queue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737360" y="187452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72000" y="187452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06640" y="187452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737360" y="278892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572000" y="278892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406640" y="278892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737360" y="278892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572000" y="278892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406640" y="278892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1520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0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54880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66560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656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95360" y="47777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Timeline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pengembangan dari awal hingga production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463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146304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276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Infra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PostgreSQL, BytePlus account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219456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03120" y="1463040"/>
            <a:ext cx="1463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463040"/>
            <a:ext cx="146304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6276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1847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121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CRUD, DB schema, models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94560" y="2606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219456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40480" y="1463040"/>
            <a:ext cx="1463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1463040"/>
            <a:ext cx="146304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16276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0" y="1847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2121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3 agents, RAG pipeline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931920" y="2606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219456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577840" y="1463040"/>
            <a:ext cx="1463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463040"/>
            <a:ext cx="14630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16276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1847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2121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dashboard, Tableau embed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69280" y="2606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40880" y="219456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15200" y="1463040"/>
            <a:ext cx="1463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0" y="1463040"/>
            <a:ext cx="14630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16276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06640" y="1847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Test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06640" y="21214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deploy, E2E testing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06640" y="2606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" y="347472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105156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Ready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51560" y="3730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AI Agents + Basic Dashboard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1560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Akhir Minggu 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74720" y="347472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379476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794760" y="3730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+ Tableau integration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794760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Akhir Minggu 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3474720"/>
            <a:ext cx="228600" cy="2286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653796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37960" y="3730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+ monitoring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37960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Akhir Minggu 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595360" y="47777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74320"/>
            <a:ext cx="914400" cy="914400"/>
          </a:xfrm>
          <a:prstGeom prst="ellipse">
            <a:avLst/>
          </a:prstGeom>
          <a:solidFill>
            <a:srgbClr val="3B82F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771900"/>
            <a:ext cx="1371600" cy="1371600"/>
          </a:xfrm>
          <a:prstGeom prst="ellipse">
            <a:avLst/>
          </a:prstGeom>
          <a:solidFill>
            <a:srgbClr val="0D9488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spc="2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 wujudkan sales AI yang cerdas dan otomatis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1828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31720"/>
            <a:ext cx="768096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4688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88036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80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28620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BytePlus ModelArk account &amp; dapatkan API key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320040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00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31821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Inisiasi project structure dengan Docker Compose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352044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520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25880" y="35021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Phase 0: Database schema + backend skeleton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384048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840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25880" y="38221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skylark-pro/lite untuk AI agents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" y="416052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160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25880" y="41422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MVP dalam 3 minggu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RenRND Sales Agentic AI  |  Pitch Deck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RenRND Sales Agentic AI - Pitch Deck</dc:title>
  <dc:subject>PptxGenJS Presentation</dc:subject>
  <dc:creator>RenRND</dc:creator>
  <cp:lastModifiedBy>RenRND</cp:lastModifiedBy>
  <cp:revision>1</cp:revision>
  <dcterms:created xsi:type="dcterms:W3CDTF">2026-09-22T05:14:41Z</dcterms:created>
  <dcterms:modified xsi:type="dcterms:W3CDTF">2026-09-22T05:14:41Z</dcterms:modified>
</cp:coreProperties>
</file>